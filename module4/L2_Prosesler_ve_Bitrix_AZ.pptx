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jpeg"/>
  <Override PartName="/ppt/media/image4.jpg" ContentType="image/jpeg"/>
  <Override PartName="/ppt/media/image9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 l="-44000" r="-4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u="sng" dirty="0">
                <a:solidFill>
                  <a:schemeClr val="tx2">
                    <a:lumMod val="75000"/>
                  </a:schemeClr>
                </a:solidFill>
              </a:rPr>
              <a:t>L2 — </a:t>
            </a:r>
            <a:r>
              <a:rPr u="sng" dirty="0" err="1">
                <a:solidFill>
                  <a:schemeClr val="tx2">
                    <a:lumMod val="75000"/>
                  </a:schemeClr>
                </a:solidFill>
              </a:rPr>
              <a:t>Proseslər</a:t>
            </a:r>
            <a:r>
              <a:rPr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u="sng" dirty="0" err="1">
                <a:solidFill>
                  <a:schemeClr val="tx2">
                    <a:lumMod val="75000"/>
                  </a:schemeClr>
                </a:solidFill>
              </a:rPr>
              <a:t>və</a:t>
            </a:r>
            <a:r>
              <a:rPr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u="sng" dirty="0" err="1">
                <a:solidFill>
                  <a:schemeClr val="tx2">
                    <a:lumMod val="75000"/>
                  </a:schemeClr>
                </a:solidFill>
              </a:rPr>
              <a:t>Bitrix</a:t>
            </a:r>
            <a:endParaRPr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endParaRPr lang="ru-RU" dirty="0"/>
          </a:p>
          <a:p>
            <a:pPr marL="0" indent="0">
              <a:buNone/>
              <a:defRPr sz="2000"/>
            </a:pPr>
            <a:endParaRPr lang="ru-RU" dirty="0"/>
          </a:p>
          <a:p>
            <a:pPr marL="0" indent="0">
              <a:buNone/>
              <a:defRPr sz="2000"/>
            </a:pPr>
            <a:endParaRPr lang="ru-RU" dirty="0"/>
          </a:p>
          <a:p>
            <a:pPr>
              <a:defRPr sz="2000"/>
            </a:pPr>
            <a:r>
              <a:rPr dirty="0"/>
              <a:t>Bu </a:t>
            </a:r>
            <a:r>
              <a:rPr dirty="0" err="1"/>
              <a:t>modul</a:t>
            </a:r>
            <a:r>
              <a:rPr dirty="0"/>
              <a:t> Bitrix24-də </a:t>
            </a:r>
            <a:r>
              <a:rPr dirty="0" err="1"/>
              <a:t>proseslərin</a:t>
            </a:r>
            <a:r>
              <a:rPr dirty="0"/>
              <a:t> </a:t>
            </a:r>
            <a:r>
              <a:rPr dirty="0" err="1"/>
              <a:t>necə</a:t>
            </a:r>
            <a:r>
              <a:rPr dirty="0"/>
              <a:t> </a:t>
            </a:r>
            <a:r>
              <a:rPr dirty="0" err="1"/>
              <a:t>idarə</a:t>
            </a:r>
            <a:r>
              <a:rPr dirty="0"/>
              <a:t> </a:t>
            </a:r>
            <a:r>
              <a:rPr dirty="0" err="1"/>
              <a:t>edilməsini</a:t>
            </a:r>
            <a:r>
              <a:rPr dirty="0"/>
              <a:t> </a:t>
            </a:r>
            <a:r>
              <a:rPr dirty="0" err="1"/>
              <a:t>öyrədir</a:t>
            </a:r>
            <a:r>
              <a:rPr dirty="0"/>
              <a:t>.</a:t>
            </a:r>
          </a:p>
          <a:p>
            <a:pPr>
              <a:defRPr sz="2000"/>
            </a:pP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8799E3-E56E-C1F8-E436-5FFB8DCB0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4977" y="4819702"/>
            <a:ext cx="1489023" cy="14890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u="sng" dirty="0">
                <a:solidFill>
                  <a:schemeClr val="tx2">
                    <a:lumMod val="75000"/>
                  </a:schemeClr>
                </a:solidFill>
              </a:rPr>
              <a:t>Bitrix24 </a:t>
            </a:r>
            <a:r>
              <a:rPr sz="3600" u="sng" dirty="0" err="1">
                <a:solidFill>
                  <a:schemeClr val="tx2">
                    <a:lumMod val="75000"/>
                  </a:schemeClr>
                </a:solidFill>
              </a:rPr>
              <a:t>modulları</a:t>
            </a:r>
            <a:r>
              <a:rPr sz="3600" u="sng" dirty="0">
                <a:solidFill>
                  <a:schemeClr val="tx2">
                    <a:lumMod val="75000"/>
                  </a:schemeClr>
                </a:solidFill>
              </a:rPr>
              <a:t>: </a:t>
            </a:r>
            <a:br>
              <a:rPr lang="ru-RU" sz="3600" u="sng" dirty="0">
                <a:solidFill>
                  <a:schemeClr val="tx2">
                    <a:lumMod val="75000"/>
                  </a:schemeClr>
                </a:solidFill>
              </a:rPr>
            </a:br>
            <a:r>
              <a:rPr sz="3600" u="sng" dirty="0">
                <a:solidFill>
                  <a:schemeClr val="tx2">
                    <a:lumMod val="75000"/>
                  </a:schemeClr>
                </a:solidFill>
              </a:rPr>
              <a:t>Leads, Deals, Tasks, CRM </a:t>
            </a:r>
            <a:r>
              <a:rPr sz="4000" u="sng" dirty="0" err="1">
                <a:solidFill>
                  <a:schemeClr val="tx2">
                    <a:lumMod val="75000"/>
                  </a:schemeClr>
                </a:solidFill>
              </a:rPr>
              <a:t>intizamı</a:t>
            </a:r>
            <a:endParaRPr sz="3600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endParaRPr lang="ru-RU" dirty="0"/>
          </a:p>
          <a:p>
            <a:pPr>
              <a:defRPr sz="2000"/>
            </a:pPr>
            <a:r>
              <a:rPr dirty="0"/>
              <a:t>Leads — </a:t>
            </a:r>
            <a:r>
              <a:rPr dirty="0" err="1"/>
              <a:t>bütün</a:t>
            </a:r>
            <a:r>
              <a:rPr dirty="0"/>
              <a:t> </a:t>
            </a:r>
            <a:r>
              <a:rPr dirty="0" err="1"/>
              <a:t>daxil</a:t>
            </a:r>
            <a:r>
              <a:rPr dirty="0"/>
              <a:t> </a:t>
            </a:r>
            <a:r>
              <a:rPr dirty="0" err="1"/>
              <a:t>olan</a:t>
            </a:r>
            <a:r>
              <a:rPr dirty="0"/>
              <a:t> </a:t>
            </a:r>
            <a:r>
              <a:rPr dirty="0" err="1"/>
              <a:t>müştəri</a:t>
            </a:r>
            <a:r>
              <a:rPr dirty="0"/>
              <a:t> </a:t>
            </a:r>
            <a:r>
              <a:rPr dirty="0" err="1"/>
              <a:t>sorğuları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Deals — </a:t>
            </a:r>
            <a:r>
              <a:rPr dirty="0" err="1"/>
              <a:t>aktiv</a:t>
            </a:r>
            <a:r>
              <a:rPr dirty="0"/>
              <a:t> </a:t>
            </a:r>
            <a:r>
              <a:rPr dirty="0" err="1"/>
              <a:t>satışlar</a:t>
            </a:r>
            <a:r>
              <a:rPr dirty="0"/>
              <a:t> </a:t>
            </a:r>
            <a:r>
              <a:rPr dirty="0" err="1"/>
              <a:t>və</a:t>
            </a:r>
            <a:r>
              <a:rPr dirty="0"/>
              <a:t> </a:t>
            </a:r>
            <a:r>
              <a:rPr dirty="0" err="1"/>
              <a:t>mərhələlərin</a:t>
            </a:r>
            <a:r>
              <a:rPr dirty="0"/>
              <a:t> </a:t>
            </a:r>
            <a:r>
              <a:rPr dirty="0" err="1"/>
              <a:t>idarə</a:t>
            </a:r>
            <a:r>
              <a:rPr dirty="0"/>
              <a:t> </a:t>
            </a:r>
            <a:r>
              <a:rPr dirty="0" err="1"/>
              <a:t>edilməsi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Tasks — </a:t>
            </a:r>
            <a:r>
              <a:rPr dirty="0" err="1"/>
              <a:t>şöbələrarası</a:t>
            </a:r>
            <a:r>
              <a:rPr dirty="0"/>
              <a:t> </a:t>
            </a:r>
            <a:r>
              <a:rPr dirty="0" err="1"/>
              <a:t>tapşırıqlar</a:t>
            </a:r>
            <a:r>
              <a:rPr dirty="0"/>
              <a:t>.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CRM </a:t>
            </a:r>
            <a:r>
              <a:rPr dirty="0" err="1"/>
              <a:t>intizamı</a:t>
            </a:r>
            <a:r>
              <a:rPr dirty="0"/>
              <a:t>: “</a:t>
            </a:r>
            <a:r>
              <a:rPr dirty="0" err="1"/>
              <a:t>Bitrix-də</a:t>
            </a:r>
            <a:r>
              <a:rPr dirty="0"/>
              <a:t> </a:t>
            </a:r>
            <a:r>
              <a:rPr dirty="0" err="1"/>
              <a:t>qeyd</a:t>
            </a:r>
            <a:r>
              <a:rPr dirty="0"/>
              <a:t> </a:t>
            </a:r>
            <a:r>
              <a:rPr dirty="0" err="1"/>
              <a:t>yoxdursa</a:t>
            </a:r>
            <a:r>
              <a:rPr dirty="0"/>
              <a:t> — </a:t>
            </a:r>
            <a:r>
              <a:rPr dirty="0" err="1"/>
              <a:t>fakt</a:t>
            </a:r>
            <a:r>
              <a:rPr dirty="0"/>
              <a:t> </a:t>
            </a:r>
            <a:r>
              <a:rPr dirty="0" err="1"/>
              <a:t>yoxdur</a:t>
            </a:r>
            <a:r>
              <a:rPr dirty="0"/>
              <a:t>.”</a:t>
            </a:r>
          </a:p>
          <a:p>
            <a:pPr marL="0" indent="0">
              <a:buNone/>
              <a:defRPr sz="2000"/>
            </a:pP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2556C85-D7EF-688C-2CC4-FB8E599F6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280" y="3959713"/>
            <a:ext cx="5843440" cy="27045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>
                <a:solidFill>
                  <a:schemeClr val="tx2">
                    <a:lumMod val="75000"/>
                  </a:schemeClr>
                </a:solidFill>
              </a:rPr>
              <a:t>Leadlərin</a:t>
            </a:r>
            <a:r>
              <a:rPr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u="sng" dirty="0" err="1">
                <a:solidFill>
                  <a:schemeClr val="tx2">
                    <a:lumMod val="75000"/>
                  </a:schemeClr>
                </a:solidFill>
              </a:rPr>
              <a:t>qəbulu</a:t>
            </a:r>
            <a:r>
              <a:rPr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u="sng" dirty="0" err="1">
                <a:solidFill>
                  <a:schemeClr val="tx2">
                    <a:lumMod val="75000"/>
                  </a:schemeClr>
                </a:solidFill>
              </a:rPr>
              <a:t>və</a:t>
            </a:r>
            <a:r>
              <a:rPr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u="sng" dirty="0" err="1">
                <a:solidFill>
                  <a:schemeClr val="tx2">
                    <a:lumMod val="75000"/>
                  </a:schemeClr>
                </a:solidFill>
              </a:rPr>
              <a:t>işlənməsi</a:t>
            </a:r>
            <a:endParaRPr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- </a:t>
            </a:r>
            <a:r>
              <a:rPr dirty="0" err="1"/>
              <a:t>Zəng</a:t>
            </a:r>
            <a:r>
              <a:rPr dirty="0"/>
              <a:t>, email, </a:t>
            </a:r>
            <a:r>
              <a:rPr dirty="0" err="1"/>
              <a:t>sayt</a:t>
            </a:r>
            <a:r>
              <a:rPr dirty="0"/>
              <a:t>, </a:t>
            </a:r>
            <a:r>
              <a:rPr dirty="0" err="1"/>
              <a:t>sosial</a:t>
            </a:r>
            <a:r>
              <a:rPr dirty="0"/>
              <a:t> </a:t>
            </a:r>
            <a:r>
              <a:rPr dirty="0" err="1"/>
              <a:t>şəbəkə</a:t>
            </a:r>
            <a:r>
              <a:rPr dirty="0"/>
              <a:t> </a:t>
            </a:r>
            <a:r>
              <a:rPr dirty="0" err="1"/>
              <a:t>daxil</a:t>
            </a:r>
            <a:r>
              <a:rPr dirty="0"/>
              <a:t> </a:t>
            </a:r>
            <a:r>
              <a:rPr dirty="0" err="1"/>
              <a:t>olmaqla</a:t>
            </a:r>
            <a:r>
              <a:rPr dirty="0"/>
              <a:t> </a:t>
            </a:r>
            <a:r>
              <a:rPr dirty="0" err="1"/>
              <a:t>bütün</a:t>
            </a:r>
            <a:r>
              <a:rPr dirty="0"/>
              <a:t> </a:t>
            </a:r>
            <a:r>
              <a:rPr dirty="0" err="1"/>
              <a:t>mənbələrin</a:t>
            </a:r>
            <a:r>
              <a:rPr dirty="0"/>
              <a:t> </a:t>
            </a:r>
            <a:r>
              <a:rPr dirty="0" err="1"/>
              <a:t>qeydiyyatı</a:t>
            </a:r>
            <a:endParaRPr lang="az-Latn-AZ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- İlk </a:t>
            </a:r>
            <a:r>
              <a:rPr dirty="0" err="1"/>
              <a:t>dəqiqələrdə</a:t>
            </a:r>
            <a:r>
              <a:rPr dirty="0"/>
              <a:t> </a:t>
            </a:r>
            <a:r>
              <a:rPr dirty="0" err="1"/>
              <a:t>reaksiya</a:t>
            </a:r>
            <a:endParaRPr lang="az-Latn-AZ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- </a:t>
            </a:r>
            <a:r>
              <a:rPr dirty="0" err="1"/>
              <a:t>Kontakt</a:t>
            </a:r>
            <a:r>
              <a:rPr dirty="0"/>
              <a:t>, </a:t>
            </a:r>
            <a:r>
              <a:rPr dirty="0" err="1"/>
              <a:t>şirkət</a:t>
            </a:r>
            <a:r>
              <a:rPr dirty="0"/>
              <a:t> </a:t>
            </a:r>
            <a:r>
              <a:rPr dirty="0" err="1"/>
              <a:t>və</a:t>
            </a:r>
            <a:r>
              <a:rPr dirty="0"/>
              <a:t> </a:t>
            </a:r>
            <a:r>
              <a:rPr dirty="0" err="1"/>
              <a:t>sorğunun</a:t>
            </a:r>
            <a:r>
              <a:rPr dirty="0"/>
              <a:t> </a:t>
            </a:r>
            <a:r>
              <a:rPr dirty="0" err="1"/>
              <a:t>doldurulması</a:t>
            </a:r>
            <a:endParaRPr lang="az-Latn-AZ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- Real </a:t>
            </a:r>
            <a:r>
              <a:rPr dirty="0" err="1"/>
              <a:t>maraq</a:t>
            </a:r>
            <a:r>
              <a:rPr dirty="0"/>
              <a:t> </a:t>
            </a:r>
            <a:r>
              <a:rPr dirty="0" err="1"/>
              <a:t>olduqda</a:t>
            </a:r>
            <a:r>
              <a:rPr dirty="0"/>
              <a:t> lead → deal </a:t>
            </a:r>
            <a:r>
              <a:rPr dirty="0" err="1"/>
              <a:t>çevrilməsi</a:t>
            </a:r>
            <a:endParaRPr dirty="0"/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>
                <a:solidFill>
                  <a:schemeClr val="tx2">
                    <a:lumMod val="75000"/>
                  </a:schemeClr>
                </a:solidFill>
              </a:rPr>
              <a:t>Daxili</a:t>
            </a:r>
            <a:r>
              <a:rPr u="sng" dirty="0">
                <a:solidFill>
                  <a:schemeClr val="tx2">
                    <a:lumMod val="75000"/>
                  </a:schemeClr>
                </a:solidFill>
              </a:rPr>
              <a:t> SLA </a:t>
            </a:r>
            <a:r>
              <a:rPr u="sng" dirty="0" err="1">
                <a:solidFill>
                  <a:schemeClr val="tx2">
                    <a:lumMod val="75000"/>
                  </a:schemeClr>
                </a:solidFill>
              </a:rPr>
              <a:t>və</a:t>
            </a:r>
            <a:r>
              <a:rPr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u="sng" dirty="0" err="1">
                <a:solidFill>
                  <a:schemeClr val="tx2">
                    <a:lumMod val="75000"/>
                  </a:schemeClr>
                </a:solidFill>
              </a:rPr>
              <a:t>reaksiya</a:t>
            </a:r>
            <a:r>
              <a:rPr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u="sng" dirty="0" err="1">
                <a:solidFill>
                  <a:schemeClr val="tx2">
                    <a:lumMod val="75000"/>
                  </a:schemeClr>
                </a:solidFill>
              </a:rPr>
              <a:t>müddətləri</a:t>
            </a:r>
            <a:endParaRPr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- İlkin </a:t>
            </a:r>
            <a:r>
              <a:rPr dirty="0" err="1"/>
              <a:t>cavab</a:t>
            </a:r>
            <a:r>
              <a:rPr dirty="0"/>
              <a:t>: </a:t>
            </a:r>
            <a:r>
              <a:rPr dirty="0" err="1"/>
              <a:t>bir</a:t>
            </a:r>
            <a:r>
              <a:rPr dirty="0"/>
              <a:t> </a:t>
            </a:r>
            <a:r>
              <a:rPr dirty="0" err="1"/>
              <a:t>neçə</a:t>
            </a:r>
            <a:r>
              <a:rPr dirty="0"/>
              <a:t> </a:t>
            </a:r>
            <a:r>
              <a:rPr dirty="0" err="1"/>
              <a:t>dəqiqə</a:t>
            </a:r>
            <a:r>
              <a:rPr dirty="0"/>
              <a:t> </a:t>
            </a:r>
            <a:r>
              <a:rPr dirty="0" err="1"/>
              <a:t>ərzində</a:t>
            </a:r>
            <a:endParaRPr lang="az-Latn-AZ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- </a:t>
            </a:r>
            <a:r>
              <a:rPr dirty="0" err="1"/>
              <a:t>Təklifin</a:t>
            </a:r>
            <a:r>
              <a:rPr dirty="0"/>
              <a:t> </a:t>
            </a:r>
            <a:r>
              <a:rPr dirty="0" err="1"/>
              <a:t>göndərilməsi</a:t>
            </a:r>
            <a:r>
              <a:rPr dirty="0"/>
              <a:t>: </a:t>
            </a:r>
            <a:r>
              <a:rPr dirty="0" err="1"/>
              <a:t>razılaşdırılmış</a:t>
            </a:r>
            <a:r>
              <a:rPr dirty="0"/>
              <a:t> </a:t>
            </a:r>
            <a:r>
              <a:rPr dirty="0" err="1"/>
              <a:t>müddət</a:t>
            </a:r>
            <a:endParaRPr lang="az-Latn-AZ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- </a:t>
            </a:r>
            <a:r>
              <a:rPr dirty="0" err="1"/>
              <a:t>Bütün</a:t>
            </a:r>
            <a:r>
              <a:rPr dirty="0"/>
              <a:t> </a:t>
            </a:r>
            <a:r>
              <a:rPr dirty="0" err="1"/>
              <a:t>müddətlər</a:t>
            </a:r>
            <a:r>
              <a:rPr dirty="0"/>
              <a:t> Deal </a:t>
            </a:r>
            <a:r>
              <a:rPr dirty="0" err="1"/>
              <a:t>və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Task </a:t>
            </a:r>
            <a:r>
              <a:rPr dirty="0" err="1"/>
              <a:t>daxilində</a:t>
            </a:r>
            <a:r>
              <a:rPr dirty="0"/>
              <a:t> </a:t>
            </a:r>
            <a:r>
              <a:rPr dirty="0" err="1"/>
              <a:t>qeyd</a:t>
            </a:r>
            <a:r>
              <a:rPr dirty="0"/>
              <a:t> </a:t>
            </a:r>
            <a:r>
              <a:rPr dirty="0" err="1"/>
              <a:t>olunur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967876-7412-F7DF-71F0-9042D337F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894" y="3863181"/>
            <a:ext cx="2797467" cy="24455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117D567-4884-05B2-CA7A-96762175F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63181"/>
            <a:ext cx="2786406" cy="244554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169BE49-739E-4DBA-D938-6C7011923A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036" y="3863181"/>
            <a:ext cx="2376437" cy="2445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>
                <a:solidFill>
                  <a:schemeClr val="tx2">
                    <a:lumMod val="75000"/>
                  </a:schemeClr>
                </a:solidFill>
              </a:rPr>
              <a:t>Sənəd</a:t>
            </a:r>
            <a:r>
              <a:rPr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u="sng" dirty="0" err="1">
                <a:solidFill>
                  <a:schemeClr val="tx2">
                    <a:lumMod val="75000"/>
                  </a:schemeClr>
                </a:solidFill>
              </a:rPr>
              <a:t>dövriyyəsi</a:t>
            </a:r>
            <a:r>
              <a:rPr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u="sng" dirty="0" err="1">
                <a:solidFill>
                  <a:schemeClr val="tx2">
                    <a:lumMod val="75000"/>
                  </a:schemeClr>
                </a:solidFill>
              </a:rPr>
              <a:t>və</a:t>
            </a:r>
            <a:r>
              <a:rPr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u="sng" dirty="0" err="1">
                <a:solidFill>
                  <a:schemeClr val="tx2">
                    <a:lumMod val="75000"/>
                  </a:schemeClr>
                </a:solidFill>
              </a:rPr>
              <a:t>arxivləşdirmə</a:t>
            </a:r>
            <a:endParaRPr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- </a:t>
            </a:r>
            <a:r>
              <a:rPr dirty="0" err="1"/>
              <a:t>Bütün</a:t>
            </a:r>
            <a:r>
              <a:rPr dirty="0"/>
              <a:t> </a:t>
            </a:r>
            <a:r>
              <a:rPr dirty="0" err="1"/>
              <a:t>sənədlər</a:t>
            </a:r>
            <a:r>
              <a:rPr dirty="0"/>
              <a:t> CRM </a:t>
            </a:r>
            <a:r>
              <a:rPr dirty="0" err="1"/>
              <a:t>və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korporativ</a:t>
            </a:r>
            <a:r>
              <a:rPr dirty="0"/>
              <a:t> </a:t>
            </a:r>
            <a:r>
              <a:rPr dirty="0" err="1"/>
              <a:t>yaddaşda</a:t>
            </a:r>
            <a:r>
              <a:rPr dirty="0"/>
              <a:t> </a:t>
            </a:r>
            <a:r>
              <a:rPr dirty="0" err="1"/>
              <a:t>saxlanılır</a:t>
            </a:r>
            <a:endParaRPr lang="az-Latn-AZ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- </a:t>
            </a:r>
            <a:r>
              <a:rPr dirty="0" err="1"/>
              <a:t>Vacib</a:t>
            </a:r>
            <a:r>
              <a:rPr dirty="0"/>
              <a:t> </a:t>
            </a:r>
            <a:r>
              <a:rPr dirty="0" err="1"/>
              <a:t>sənədləri</a:t>
            </a:r>
            <a:r>
              <a:rPr dirty="0"/>
              <a:t> </a:t>
            </a:r>
            <a:r>
              <a:rPr dirty="0" err="1"/>
              <a:t>şəxsi</a:t>
            </a:r>
            <a:r>
              <a:rPr dirty="0"/>
              <a:t> </a:t>
            </a:r>
            <a:r>
              <a:rPr dirty="0" err="1"/>
              <a:t>messencerlərdə</a:t>
            </a:r>
            <a:r>
              <a:rPr dirty="0"/>
              <a:t> </a:t>
            </a:r>
            <a:r>
              <a:rPr dirty="0" err="1"/>
              <a:t>saxlamaq</a:t>
            </a:r>
            <a:r>
              <a:rPr dirty="0"/>
              <a:t> </a:t>
            </a:r>
            <a:r>
              <a:rPr dirty="0" err="1"/>
              <a:t>qadağandır</a:t>
            </a:r>
            <a:endParaRPr lang="az-Latn-AZ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- </a:t>
            </a:r>
            <a:r>
              <a:rPr dirty="0" err="1"/>
              <a:t>Fayl</a:t>
            </a:r>
            <a:r>
              <a:rPr dirty="0"/>
              <a:t> </a:t>
            </a:r>
            <a:r>
              <a:rPr dirty="0" err="1"/>
              <a:t>və</a:t>
            </a:r>
            <a:r>
              <a:rPr dirty="0"/>
              <a:t> </a:t>
            </a:r>
            <a:r>
              <a:rPr dirty="0" err="1"/>
              <a:t>qovluq</a:t>
            </a:r>
            <a:r>
              <a:rPr dirty="0"/>
              <a:t> </a:t>
            </a:r>
            <a:r>
              <a:rPr dirty="0" err="1"/>
              <a:t>adlarında</a:t>
            </a:r>
            <a:r>
              <a:rPr dirty="0"/>
              <a:t> </a:t>
            </a:r>
            <a:r>
              <a:rPr dirty="0" err="1"/>
              <a:t>vahid</a:t>
            </a:r>
            <a:r>
              <a:rPr dirty="0"/>
              <a:t> </a:t>
            </a:r>
            <a:r>
              <a:rPr dirty="0" err="1"/>
              <a:t>standart</a:t>
            </a:r>
            <a:endParaRPr dirty="0"/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>
                <a:solidFill>
                  <a:schemeClr val="tx2">
                    <a:lumMod val="75000"/>
                  </a:schemeClr>
                </a:solidFill>
              </a:rPr>
              <a:t>Şöbələrarası</a:t>
            </a:r>
            <a:r>
              <a:rPr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u="sng" dirty="0" err="1">
                <a:solidFill>
                  <a:schemeClr val="tx2">
                    <a:lumMod val="75000"/>
                  </a:schemeClr>
                </a:solidFill>
              </a:rPr>
              <a:t>kommunikasiya</a:t>
            </a:r>
            <a:endParaRPr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- </a:t>
            </a:r>
            <a:r>
              <a:rPr dirty="0" err="1"/>
              <a:t>Tapşırıqlar</a:t>
            </a:r>
            <a:r>
              <a:rPr dirty="0"/>
              <a:t> </a:t>
            </a:r>
            <a:r>
              <a:rPr dirty="0" err="1"/>
              <a:t>yalnız</a:t>
            </a:r>
            <a:r>
              <a:rPr dirty="0"/>
              <a:t> </a:t>
            </a:r>
            <a:r>
              <a:rPr dirty="0" err="1"/>
              <a:t>Bitrix</a:t>
            </a:r>
            <a:r>
              <a:rPr dirty="0"/>
              <a:t> Tasks </a:t>
            </a:r>
            <a:r>
              <a:rPr dirty="0" err="1"/>
              <a:t>vasitəsilə</a:t>
            </a:r>
            <a:r>
              <a:rPr dirty="0"/>
              <a:t> </a:t>
            </a:r>
            <a:r>
              <a:rPr dirty="0" err="1"/>
              <a:t>ötürülür</a:t>
            </a:r>
            <a:endParaRPr lang="az-Latn-AZ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- </a:t>
            </a:r>
            <a:r>
              <a:rPr dirty="0" err="1"/>
              <a:t>Şərhlər</a:t>
            </a:r>
            <a:r>
              <a:rPr dirty="0"/>
              <a:t> deal </a:t>
            </a:r>
            <a:r>
              <a:rPr dirty="0" err="1"/>
              <a:t>daxilində</a:t>
            </a:r>
            <a:r>
              <a:rPr dirty="0"/>
              <a:t> </a:t>
            </a:r>
            <a:r>
              <a:rPr dirty="0" err="1"/>
              <a:t>yazılır</a:t>
            </a:r>
            <a:endParaRPr lang="az-Latn-AZ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- </a:t>
            </a:r>
            <a:r>
              <a:rPr dirty="0" err="1"/>
              <a:t>Məsuliyyətin</a:t>
            </a:r>
            <a:r>
              <a:rPr dirty="0"/>
              <a:t> </a:t>
            </a:r>
            <a:r>
              <a:rPr dirty="0" err="1"/>
              <a:t>şəffaf</a:t>
            </a:r>
            <a:r>
              <a:rPr dirty="0"/>
              <a:t> </a:t>
            </a:r>
            <a:r>
              <a:rPr dirty="0" err="1"/>
              <a:t>bölgüsü</a:t>
            </a:r>
            <a:r>
              <a:rPr dirty="0"/>
              <a:t>: </a:t>
            </a:r>
            <a:r>
              <a:rPr dirty="0" err="1"/>
              <a:t>kim</a:t>
            </a:r>
            <a:r>
              <a:rPr dirty="0"/>
              <a:t> </a:t>
            </a:r>
            <a:r>
              <a:rPr dirty="0" err="1"/>
              <a:t>nə</a:t>
            </a:r>
            <a:r>
              <a:rPr dirty="0"/>
              <a:t> </a:t>
            </a:r>
            <a:r>
              <a:rPr dirty="0" err="1"/>
              <a:t>edir</a:t>
            </a:r>
            <a:r>
              <a:rPr dirty="0"/>
              <a:t> </a:t>
            </a:r>
            <a:r>
              <a:rPr dirty="0" err="1"/>
              <a:t>və</a:t>
            </a:r>
            <a:r>
              <a:rPr dirty="0"/>
              <a:t> </a:t>
            </a:r>
            <a:r>
              <a:rPr dirty="0" err="1"/>
              <a:t>nə</a:t>
            </a:r>
            <a:r>
              <a:rPr dirty="0"/>
              <a:t> </a:t>
            </a:r>
            <a:r>
              <a:rPr dirty="0" err="1"/>
              <a:t>vaxt</a:t>
            </a:r>
            <a:endParaRPr dirty="0"/>
          </a:p>
          <a:p>
            <a:pPr marL="0" indent="0">
              <a:buNone/>
              <a:defRPr sz="20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177</Words>
  <Application>Microsoft Office PowerPoint</Application>
  <PresentationFormat>Экран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L2 — Proseslər və Bitrix</vt:lpstr>
      <vt:lpstr>Bitrix24 modulları:  Leads, Deals, Tasks, CRM intizamı</vt:lpstr>
      <vt:lpstr>Leadlərin qəbulu və işlənməsi</vt:lpstr>
      <vt:lpstr>Daxili SLA və reaksiya müddətləri</vt:lpstr>
      <vt:lpstr>Sənəd dövriyyəsi və arxivləşdirmə</vt:lpstr>
      <vt:lpstr>Şöbələrarası kommunikasiya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2025-11-25T10:56:23Z</dcterms:modified>
  <cp:category/>
</cp:coreProperties>
</file>